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aret Bold" charset="1" panose="00000000000000000000"/>
      <p:regular r:id="rId24"/>
    </p:embeddedFont>
    <p:embeddedFont>
      <p:font typeface="Poppins" charset="1" panose="00000500000000000000"/>
      <p:regular r:id="rId25"/>
    </p:embeddedFont>
    <p:embeddedFont>
      <p:font typeface="Garet" charset="1" panose="00000000000000000000"/>
      <p:regular r:id="rId26"/>
    </p:embeddedFont>
    <p:embeddedFont>
      <p:font typeface="Canva Sans Bold" charset="1" panose="020B08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324350" cy="10287000"/>
            <a:chOff x="0" y="0"/>
            <a:chExt cx="113892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89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38924">
                  <a:moveTo>
                    <a:pt x="0" y="0"/>
                  </a:moveTo>
                  <a:lnTo>
                    <a:pt x="1138924" y="0"/>
                  </a:lnTo>
                  <a:lnTo>
                    <a:pt x="113892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38923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572250" y="170982"/>
            <a:ext cx="9963150" cy="9945035"/>
          </a:xfrm>
          <a:custGeom>
            <a:avLst/>
            <a:gdLst/>
            <a:ahLst/>
            <a:cxnLst/>
            <a:rect r="r" b="b" t="t" l="l"/>
            <a:pathLst>
              <a:path h="9945035" w="9963150">
                <a:moveTo>
                  <a:pt x="0" y="0"/>
                </a:moveTo>
                <a:lnTo>
                  <a:pt x="9963150" y="0"/>
                </a:lnTo>
                <a:lnTo>
                  <a:pt x="9963150" y="9945036"/>
                </a:lnTo>
                <a:lnTo>
                  <a:pt x="0" y="994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877865" y="1270157"/>
            <a:ext cx="9525000" cy="194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 spc="134">
                <a:solidFill>
                  <a:srgbClr val="E39159"/>
                </a:solidFill>
                <a:latin typeface="Garet Bold"/>
                <a:ea typeface="Garet Bold"/>
                <a:cs typeface="Garet Bold"/>
                <a:sym typeface="Garet Bold"/>
              </a:rPr>
              <a:t>CUSTOMER PURCHASE BEHAVIOUR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77865" y="4090352"/>
            <a:ext cx="9172806" cy="199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LAKSHMI HARSHITHA  - 2023BCS0069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ROSHITHA                    - 2023BCS0105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VINUTHNA                    - 2023BCS0150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19950" y="-62293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52039" y="0"/>
            <a:ext cx="12782550" cy="10287000"/>
            <a:chOff x="0" y="0"/>
            <a:chExt cx="33665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665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3366598">
                  <a:moveTo>
                    <a:pt x="0" y="0"/>
                  </a:moveTo>
                  <a:lnTo>
                    <a:pt x="3366598" y="0"/>
                  </a:lnTo>
                  <a:lnTo>
                    <a:pt x="336659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366598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19900" y="1200150"/>
            <a:ext cx="266700" cy="5314950"/>
            <a:chOff x="0" y="0"/>
            <a:chExt cx="70242" cy="13998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42" cy="1399822"/>
            </a:xfrm>
            <a:custGeom>
              <a:avLst/>
              <a:gdLst/>
              <a:ahLst/>
              <a:cxnLst/>
              <a:rect r="r" b="b" t="t" l="l"/>
              <a:pathLst>
                <a:path h="1399822" w="70242">
                  <a:moveTo>
                    <a:pt x="0" y="0"/>
                  </a:moveTo>
                  <a:lnTo>
                    <a:pt x="70242" y="0"/>
                  </a:lnTo>
                  <a:lnTo>
                    <a:pt x="70242" y="1399822"/>
                  </a:lnTo>
                  <a:lnTo>
                    <a:pt x="0" y="1399822"/>
                  </a:ln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00000"/>
                  </a:srgbClr>
                </a:gs>
                <a:gs pos="100000">
                  <a:srgbClr val="ECECEC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70242" cy="1409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67550" y="3638550"/>
            <a:ext cx="2095500" cy="266700"/>
            <a:chOff x="0" y="0"/>
            <a:chExt cx="551901" cy="702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1901" cy="70242"/>
            </a:xfrm>
            <a:custGeom>
              <a:avLst/>
              <a:gdLst/>
              <a:ahLst/>
              <a:cxnLst/>
              <a:rect r="r" b="b" t="t" l="l"/>
              <a:pathLst>
                <a:path h="70242" w="551901">
                  <a:moveTo>
                    <a:pt x="0" y="0"/>
                  </a:moveTo>
                  <a:lnTo>
                    <a:pt x="551901" y="0"/>
                  </a:lnTo>
                  <a:lnTo>
                    <a:pt x="551901" y="70242"/>
                  </a:lnTo>
                  <a:lnTo>
                    <a:pt x="0" y="70242"/>
                  </a:lnTo>
                  <a:close/>
                </a:path>
              </a:pathLst>
            </a:custGeom>
            <a:gradFill rotWithShape="true">
              <a:gsLst>
                <a:gs pos="0">
                  <a:srgbClr val="F3F3F3">
                    <a:alpha val="100000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51901" cy="79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41598" y="638175"/>
            <a:ext cx="7143750" cy="143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5600" b="true">
                <a:solidFill>
                  <a:srgbClr val="4A544C"/>
                </a:solidFill>
                <a:latin typeface="Garet Bold"/>
                <a:ea typeface="Garet Bold"/>
                <a:cs typeface="Garet Bold"/>
                <a:sym typeface="Garet Bold"/>
              </a:rPr>
              <a:t>Introduction</a:t>
            </a:r>
          </a:p>
          <a:p>
            <a:pPr algn="l">
              <a:lnSpc>
                <a:spcPts val="53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819900" y="1494407"/>
            <a:ext cx="9811862" cy="879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Customer purchase behaviour analysis helps businesses understand how customers shop, what products they prefer, and how much they spend.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 data warehouse allows large volumes of customer data to be stored, cleaned, and analyzed for decision making.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This project uses customer shopping data to identify patterns, trends, and business insights using analytical techniques.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Why this project is important Improves business decision   making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Identifies customer trends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Helps increase sales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Supports strategic planning</a:t>
            </a:r>
          </a:p>
          <a:p>
            <a:pPr algn="just">
              <a:lnSpc>
                <a:spcPts val="541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4522" y="88582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32143" y="0"/>
            <a:ext cx="4055857" cy="10287000"/>
            <a:chOff x="0" y="0"/>
            <a:chExt cx="106820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820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68209">
                  <a:moveTo>
                    <a:pt x="0" y="0"/>
                  </a:moveTo>
                  <a:lnTo>
                    <a:pt x="1068209" y="0"/>
                  </a:lnTo>
                  <a:lnTo>
                    <a:pt x="106820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068209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90950" y="561975"/>
            <a:ext cx="47625" cy="47625"/>
            <a:chOff x="0" y="0"/>
            <a:chExt cx="720474" cy="720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43706" y="2125128"/>
            <a:ext cx="11694037" cy="6733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57"/>
              </a:lnSpc>
            </a:pPr>
            <a:r>
              <a:rPr lang="en-US" sz="338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The main objectives of this project are:</a:t>
            </a:r>
          </a:p>
          <a:p>
            <a:pPr algn="just" marL="731643" indent="-365821" lvl="1">
              <a:lnSpc>
                <a:spcPts val="5557"/>
              </a:lnSpc>
              <a:buFont typeface="Arial"/>
              <a:buChar char="•"/>
            </a:pPr>
            <a:r>
              <a:rPr lang="en-US" sz="338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 analyze customer purchase behaviour using shopping data</a:t>
            </a:r>
          </a:p>
          <a:p>
            <a:pPr algn="just" marL="731643" indent="-365821" lvl="1">
              <a:lnSpc>
                <a:spcPts val="5557"/>
              </a:lnSpc>
              <a:buFont typeface="Arial"/>
              <a:buChar char="•"/>
            </a:pPr>
            <a:r>
              <a:rPr lang="en-US" sz="338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 clean and prepare data for analysis</a:t>
            </a:r>
          </a:p>
          <a:p>
            <a:pPr algn="just" marL="731643" indent="-365821" lvl="1">
              <a:lnSpc>
                <a:spcPts val="5557"/>
              </a:lnSpc>
              <a:buFont typeface="Arial"/>
              <a:buChar char="•"/>
            </a:pPr>
            <a:r>
              <a:rPr lang="en-US" sz="338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 perform exploratory data analysis</a:t>
            </a:r>
          </a:p>
          <a:p>
            <a:pPr algn="just" marL="731643" indent="-365821" lvl="1">
              <a:lnSpc>
                <a:spcPts val="5557"/>
              </a:lnSpc>
              <a:buFont typeface="Arial"/>
              <a:buChar char="•"/>
            </a:pPr>
            <a:r>
              <a:rPr lang="en-US" sz="338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 segment customers using clustering</a:t>
            </a:r>
          </a:p>
          <a:p>
            <a:pPr algn="just" marL="731643" indent="-365821" lvl="1">
              <a:lnSpc>
                <a:spcPts val="5557"/>
              </a:lnSpc>
              <a:buFont typeface="Arial"/>
              <a:buChar char="•"/>
            </a:pPr>
            <a:r>
              <a:rPr lang="en-US" sz="338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 predict product category using decision tree</a:t>
            </a:r>
          </a:p>
          <a:p>
            <a:pPr algn="just" marL="731643" indent="-365821" lvl="1">
              <a:lnSpc>
                <a:spcPts val="5557"/>
              </a:lnSpc>
              <a:buFont typeface="Arial"/>
              <a:buChar char="•"/>
            </a:pPr>
            <a:r>
              <a:rPr lang="en-US" sz="338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 generate business insights using OLAP operations</a:t>
            </a:r>
          </a:p>
          <a:p>
            <a:pPr algn="just">
              <a:lnSpc>
                <a:spcPts val="312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04522" y="1009650"/>
            <a:ext cx="4777464" cy="86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3"/>
              </a:lnSpc>
              <a:spcBef>
                <a:spcPct val="0"/>
              </a:spcBef>
            </a:pPr>
            <a:r>
              <a:rPr lang="en-US" sz="5599">
                <a:solidFill>
                  <a:srgbClr val="FAFAFA"/>
                </a:solidFill>
                <a:latin typeface="Garet"/>
                <a:ea typeface="Garet"/>
                <a:cs typeface="Garet"/>
                <a:sym typeface="Garet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AFAFA">
                <a:alpha val="100000"/>
              </a:srgbClr>
            </a:gs>
            <a:gs pos="100000">
              <a:srgbClr val="E4E4E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1050" y="5143500"/>
            <a:ext cx="9963150" cy="9945035"/>
          </a:xfrm>
          <a:custGeom>
            <a:avLst/>
            <a:gdLst/>
            <a:ahLst/>
            <a:cxnLst/>
            <a:rect r="r" b="b" t="t" l="l"/>
            <a:pathLst>
              <a:path h="9945035" w="9963150">
                <a:moveTo>
                  <a:pt x="0" y="0"/>
                </a:moveTo>
                <a:lnTo>
                  <a:pt x="9963150" y="0"/>
                </a:lnTo>
                <a:lnTo>
                  <a:pt x="9963150" y="9945035"/>
                </a:lnTo>
                <a:lnTo>
                  <a:pt x="0" y="994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5653088" cy="10287000"/>
            <a:chOff x="0" y="0"/>
            <a:chExt cx="148887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887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88879">
                  <a:moveTo>
                    <a:pt x="0" y="0"/>
                  </a:moveTo>
                  <a:lnTo>
                    <a:pt x="1488879" y="0"/>
                  </a:lnTo>
                  <a:lnTo>
                    <a:pt x="148887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54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88879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240212" y="379412"/>
            <a:ext cx="6924675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5100" b="true">
                <a:solidFill>
                  <a:srgbClr val="4A544C"/>
                </a:solidFill>
                <a:latin typeface="Garet Bold"/>
                <a:ea typeface="Garet Bold"/>
                <a:cs typeface="Garet Bold"/>
                <a:sym typeface="Garet Bold"/>
              </a:rPr>
              <a:t>Dataset Description</a:t>
            </a:r>
          </a:p>
          <a:p>
            <a:pPr algn="l">
              <a:lnSpc>
                <a:spcPts val="519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082971" y="1515236"/>
            <a:ext cx="9765626" cy="774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dataset used in this project is shopping_trends.csv.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It contains customer shopping details such as: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Age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Gender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Product Category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Purchase Amount (USD)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Season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Previous Purchases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Subscription Status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Dataset Features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Structured tabular data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Numerical and categorical variables</a:t>
            </a:r>
          </a:p>
          <a:p>
            <a:pPr algn="just" marL="582925" indent="-291463" lvl="1">
              <a:lnSpc>
                <a:spcPts val="4427"/>
              </a:lnSpc>
              <a:buFont typeface="Arial"/>
              <a:buChar char="•"/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Suitable for warehouse analysis</a:t>
            </a:r>
          </a:p>
          <a:p>
            <a:pPr algn="just">
              <a:lnSpc>
                <a:spcPts val="344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AFAFA">
                <a:alpha val="100000"/>
              </a:srgbClr>
            </a:gs>
            <a:gs pos="100000">
              <a:srgbClr val="E4E4E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1050" y="5143500"/>
            <a:ext cx="9963150" cy="9945035"/>
          </a:xfrm>
          <a:custGeom>
            <a:avLst/>
            <a:gdLst/>
            <a:ahLst/>
            <a:cxnLst/>
            <a:rect r="r" b="b" t="t" l="l"/>
            <a:pathLst>
              <a:path h="9945035" w="9963150">
                <a:moveTo>
                  <a:pt x="0" y="0"/>
                </a:moveTo>
                <a:lnTo>
                  <a:pt x="9963150" y="0"/>
                </a:lnTo>
                <a:lnTo>
                  <a:pt x="9963150" y="9945035"/>
                </a:lnTo>
                <a:lnTo>
                  <a:pt x="0" y="994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71616" y="-46229"/>
            <a:ext cx="10680340" cy="10333229"/>
          </a:xfrm>
          <a:custGeom>
            <a:avLst/>
            <a:gdLst/>
            <a:ahLst/>
            <a:cxnLst/>
            <a:rect r="r" b="b" t="t" l="l"/>
            <a:pathLst>
              <a:path h="10333229" w="10680340">
                <a:moveTo>
                  <a:pt x="0" y="0"/>
                </a:moveTo>
                <a:lnTo>
                  <a:pt x="10680341" y="0"/>
                </a:lnTo>
                <a:lnTo>
                  <a:pt x="10680341" y="10333229"/>
                </a:lnTo>
                <a:lnTo>
                  <a:pt x="0" y="10333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78050" y="-62293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782550" cy="10287000"/>
            <a:chOff x="0" y="0"/>
            <a:chExt cx="33665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665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3366598">
                  <a:moveTo>
                    <a:pt x="0" y="0"/>
                  </a:moveTo>
                  <a:lnTo>
                    <a:pt x="3366598" y="0"/>
                  </a:lnTo>
                  <a:lnTo>
                    <a:pt x="336659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366598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01400" y="1200150"/>
            <a:ext cx="266700" cy="5314950"/>
            <a:chOff x="0" y="0"/>
            <a:chExt cx="70242" cy="13998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42" cy="1399822"/>
            </a:xfrm>
            <a:custGeom>
              <a:avLst/>
              <a:gdLst/>
              <a:ahLst/>
              <a:cxnLst/>
              <a:rect r="r" b="b" t="t" l="l"/>
              <a:pathLst>
                <a:path h="1399822" w="70242">
                  <a:moveTo>
                    <a:pt x="0" y="0"/>
                  </a:moveTo>
                  <a:lnTo>
                    <a:pt x="70242" y="0"/>
                  </a:lnTo>
                  <a:lnTo>
                    <a:pt x="70242" y="1399822"/>
                  </a:lnTo>
                  <a:lnTo>
                    <a:pt x="0" y="1399822"/>
                  </a:ln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00000"/>
                  </a:srgbClr>
                </a:gs>
                <a:gs pos="100000">
                  <a:srgbClr val="ECECEC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70242" cy="1409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24950" y="3638550"/>
            <a:ext cx="2095500" cy="266700"/>
            <a:chOff x="0" y="0"/>
            <a:chExt cx="551901" cy="702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1901" cy="70242"/>
            </a:xfrm>
            <a:custGeom>
              <a:avLst/>
              <a:gdLst/>
              <a:ahLst/>
              <a:cxnLst/>
              <a:rect r="r" b="b" t="t" l="l"/>
              <a:pathLst>
                <a:path h="70242" w="551901">
                  <a:moveTo>
                    <a:pt x="0" y="0"/>
                  </a:moveTo>
                  <a:lnTo>
                    <a:pt x="551901" y="0"/>
                  </a:lnTo>
                  <a:lnTo>
                    <a:pt x="551901" y="70242"/>
                  </a:lnTo>
                  <a:lnTo>
                    <a:pt x="0" y="70242"/>
                  </a:lnTo>
                  <a:close/>
                </a:path>
              </a:pathLst>
            </a:custGeom>
            <a:gradFill rotWithShape="true">
              <a:gsLst>
                <a:gs pos="0">
                  <a:srgbClr val="F3F3F3">
                    <a:alpha val="100000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51901" cy="79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90950" y="561975"/>
            <a:ext cx="47625" cy="47625"/>
            <a:chOff x="0" y="0"/>
            <a:chExt cx="720474" cy="7204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38250" y="1095375"/>
            <a:ext cx="7886700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5500" b="true">
                <a:solidFill>
                  <a:srgbClr val="4A544C"/>
                </a:solidFill>
                <a:latin typeface="Garet Bold"/>
                <a:ea typeface="Garet Bold"/>
                <a:cs typeface="Garet Bold"/>
                <a:sym typeface="Garet Bold"/>
              </a:rPr>
              <a:t>Data Preprocessing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6416" y="2272775"/>
            <a:ext cx="10369718" cy="657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Before analysis, the dataset was cleaned and transformed.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Data Cleaning Steps: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Checked missing values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Removed null records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Removed duplicate rows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Data Transformation: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Converted categorical columns into factors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Selected numerical columns for statistical analysis</a:t>
            </a:r>
          </a:p>
          <a:p>
            <a:pPr algn="just">
              <a:lnSpc>
                <a:spcPts val="4427"/>
              </a:lnSpc>
            </a:pP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Clean and ready dataset for further processing.</a:t>
            </a:r>
          </a:p>
          <a:p>
            <a:pPr algn="just">
              <a:lnSpc>
                <a:spcPts val="4427"/>
              </a:lnSpc>
            </a:pP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6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Raw Data → Cleaning → Transformation → Analysis</a:t>
            </a:r>
          </a:p>
          <a:p>
            <a:pPr algn="just">
              <a:lnSpc>
                <a:spcPts val="295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53300" y="88582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4250438" cy="10287000"/>
            <a:chOff x="0" y="0"/>
            <a:chExt cx="1119457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945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19457">
                  <a:moveTo>
                    <a:pt x="0" y="0"/>
                  </a:moveTo>
                  <a:lnTo>
                    <a:pt x="1119457" y="0"/>
                  </a:lnTo>
                  <a:lnTo>
                    <a:pt x="111945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119457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85777" y="343408"/>
            <a:ext cx="7944128" cy="143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8"/>
              </a:lnSpc>
            </a:pPr>
            <a:r>
              <a:rPr lang="en-US" sz="5300" b="true">
                <a:solidFill>
                  <a:srgbClr val="FAFAFA"/>
                </a:solidFill>
                <a:latin typeface="Garet Bold"/>
                <a:ea typeface="Garet Bold"/>
                <a:cs typeface="Garet Bold"/>
                <a:sym typeface="Garet Bold"/>
              </a:rPr>
              <a:t>Exploratory Data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39350" y="5070031"/>
            <a:ext cx="6819900" cy="36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85777" y="1913509"/>
            <a:ext cx="9591498" cy="795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9"/>
              </a:lnSpc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Exploratory analysis was performed to understand customer patterns.</a:t>
            </a:r>
          </a:p>
          <a:p>
            <a:pPr algn="just">
              <a:lnSpc>
                <a:spcPts val="4919"/>
              </a:lnSpc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Visualizations Used</a:t>
            </a:r>
          </a:p>
          <a:p>
            <a:pPr algn="just" marL="647694" indent="-323847" lvl="1">
              <a:lnSpc>
                <a:spcPts val="4919"/>
              </a:lnSpc>
              <a:buFont typeface="Arial"/>
              <a:buChar char="•"/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Age Distribution</a:t>
            </a:r>
          </a:p>
          <a:p>
            <a:pPr algn="just" marL="647694" indent="-323847" lvl="1">
              <a:lnSpc>
                <a:spcPts val="4919"/>
              </a:lnSpc>
              <a:buFont typeface="Arial"/>
              <a:buChar char="•"/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Gender Distribution</a:t>
            </a:r>
          </a:p>
          <a:p>
            <a:pPr algn="just" marL="647694" indent="-323847" lvl="1">
              <a:lnSpc>
                <a:spcPts val="4919"/>
              </a:lnSpc>
              <a:buFont typeface="Arial"/>
              <a:buChar char="•"/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Purchase Amount Distribution</a:t>
            </a:r>
          </a:p>
          <a:p>
            <a:pPr algn="just" marL="647694" indent="-323847" lvl="1">
              <a:lnSpc>
                <a:spcPts val="4919"/>
              </a:lnSpc>
              <a:buFont typeface="Arial"/>
              <a:buChar char="•"/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Sales by Product Category</a:t>
            </a:r>
          </a:p>
          <a:p>
            <a:pPr algn="just" marL="647694" indent="-323847" lvl="1">
              <a:lnSpc>
                <a:spcPts val="4919"/>
              </a:lnSpc>
              <a:buFont typeface="Arial"/>
              <a:buChar char="•"/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Sales by Season</a:t>
            </a:r>
          </a:p>
          <a:p>
            <a:pPr algn="just">
              <a:lnSpc>
                <a:spcPts val="4919"/>
              </a:lnSpc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Observations</a:t>
            </a:r>
          </a:p>
          <a:p>
            <a:pPr algn="just" marL="647694" indent="-323847" lvl="1">
              <a:lnSpc>
                <a:spcPts val="4919"/>
              </a:lnSpc>
              <a:buFont typeface="Arial"/>
              <a:buChar char="•"/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Certain age groups purchase more frequently</a:t>
            </a:r>
          </a:p>
          <a:p>
            <a:pPr algn="just" marL="647694" indent="-323847" lvl="1">
              <a:lnSpc>
                <a:spcPts val="4919"/>
              </a:lnSpc>
              <a:buFont typeface="Arial"/>
              <a:buChar char="•"/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Spending varies across product categories</a:t>
            </a:r>
          </a:p>
          <a:p>
            <a:pPr algn="just" marL="647694" indent="-323847" lvl="1">
              <a:lnSpc>
                <a:spcPts val="4919"/>
              </a:lnSpc>
              <a:buFont typeface="Arial"/>
              <a:buChar char="•"/>
            </a:pPr>
            <a:r>
              <a:rPr lang="en-US" sz="29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Seasonal differences affect sales</a:t>
            </a:r>
          </a:p>
          <a:p>
            <a:pPr algn="just">
              <a:lnSpc>
                <a:spcPts val="426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53300" y="88582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5585" y="782036"/>
            <a:ext cx="6710239" cy="8321979"/>
          </a:xfrm>
          <a:custGeom>
            <a:avLst/>
            <a:gdLst/>
            <a:ahLst/>
            <a:cxnLst/>
            <a:rect r="r" b="b" t="t" l="l"/>
            <a:pathLst>
              <a:path h="8321979" w="6710239">
                <a:moveTo>
                  <a:pt x="0" y="0"/>
                </a:moveTo>
                <a:lnTo>
                  <a:pt x="6710239" y="0"/>
                </a:lnTo>
                <a:lnTo>
                  <a:pt x="6710239" y="8321980"/>
                </a:lnTo>
                <a:lnTo>
                  <a:pt x="0" y="8321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40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10700" y="782036"/>
            <a:ext cx="6991375" cy="8385458"/>
          </a:xfrm>
          <a:custGeom>
            <a:avLst/>
            <a:gdLst/>
            <a:ahLst/>
            <a:cxnLst/>
            <a:rect r="r" b="b" t="t" l="l"/>
            <a:pathLst>
              <a:path h="8385458" w="6991375">
                <a:moveTo>
                  <a:pt x="0" y="0"/>
                </a:moveTo>
                <a:lnTo>
                  <a:pt x="6991375" y="0"/>
                </a:lnTo>
                <a:lnTo>
                  <a:pt x="6991375" y="8385458"/>
                </a:lnTo>
                <a:lnTo>
                  <a:pt x="0" y="8385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53300" y="88582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30680" y="561975"/>
            <a:ext cx="7481897" cy="8973789"/>
          </a:xfrm>
          <a:custGeom>
            <a:avLst/>
            <a:gdLst/>
            <a:ahLst/>
            <a:cxnLst/>
            <a:rect r="r" b="b" t="t" l="l"/>
            <a:pathLst>
              <a:path h="8973789" w="7481897">
                <a:moveTo>
                  <a:pt x="0" y="0"/>
                </a:moveTo>
                <a:lnTo>
                  <a:pt x="7481896" y="0"/>
                </a:lnTo>
                <a:lnTo>
                  <a:pt x="7481896" y="8973789"/>
                </a:lnTo>
                <a:lnTo>
                  <a:pt x="0" y="8973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04262" y="609600"/>
            <a:ext cx="7516779" cy="9015627"/>
          </a:xfrm>
          <a:custGeom>
            <a:avLst/>
            <a:gdLst/>
            <a:ahLst/>
            <a:cxnLst/>
            <a:rect r="r" b="b" t="t" l="l"/>
            <a:pathLst>
              <a:path h="9015627" w="7516779">
                <a:moveTo>
                  <a:pt x="0" y="0"/>
                </a:moveTo>
                <a:lnTo>
                  <a:pt x="7516779" y="0"/>
                </a:lnTo>
                <a:lnTo>
                  <a:pt x="7516779" y="9015627"/>
                </a:lnTo>
                <a:lnTo>
                  <a:pt x="0" y="9015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53300" y="88582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584903" y="402654"/>
            <a:ext cx="7674397" cy="9204674"/>
          </a:xfrm>
          <a:custGeom>
            <a:avLst/>
            <a:gdLst/>
            <a:ahLst/>
            <a:cxnLst/>
            <a:rect r="r" b="b" t="t" l="l"/>
            <a:pathLst>
              <a:path h="9204674" w="7674397">
                <a:moveTo>
                  <a:pt x="0" y="0"/>
                </a:moveTo>
                <a:lnTo>
                  <a:pt x="7674397" y="0"/>
                </a:lnTo>
                <a:lnTo>
                  <a:pt x="7674397" y="9204674"/>
                </a:lnTo>
                <a:lnTo>
                  <a:pt x="0" y="9204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0203" y="402654"/>
            <a:ext cx="7537850" cy="9040899"/>
          </a:xfrm>
          <a:custGeom>
            <a:avLst/>
            <a:gdLst/>
            <a:ahLst/>
            <a:cxnLst/>
            <a:rect r="r" b="b" t="t" l="l"/>
            <a:pathLst>
              <a:path h="9040899" w="7537850">
                <a:moveTo>
                  <a:pt x="0" y="0"/>
                </a:moveTo>
                <a:lnTo>
                  <a:pt x="7537850" y="0"/>
                </a:lnTo>
                <a:lnTo>
                  <a:pt x="7537850" y="9040900"/>
                </a:lnTo>
                <a:lnTo>
                  <a:pt x="0" y="9040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AFAFA">
                <a:alpha val="100000"/>
              </a:srgbClr>
            </a:gs>
            <a:gs pos="100000">
              <a:srgbClr val="E4E4E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96200" y="5143500"/>
            <a:ext cx="9963150" cy="9945035"/>
          </a:xfrm>
          <a:custGeom>
            <a:avLst/>
            <a:gdLst/>
            <a:ahLst/>
            <a:cxnLst/>
            <a:rect r="r" b="b" t="t" l="l"/>
            <a:pathLst>
              <a:path h="9945035" w="9963150">
                <a:moveTo>
                  <a:pt x="0" y="0"/>
                </a:moveTo>
                <a:lnTo>
                  <a:pt x="9963150" y="0"/>
                </a:lnTo>
                <a:lnTo>
                  <a:pt x="9963150" y="9945035"/>
                </a:lnTo>
                <a:lnTo>
                  <a:pt x="0" y="994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72461" y="0"/>
            <a:ext cx="6315539" cy="10287000"/>
            <a:chOff x="0" y="0"/>
            <a:chExt cx="1663352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33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3352">
                  <a:moveTo>
                    <a:pt x="0" y="0"/>
                  </a:moveTo>
                  <a:lnTo>
                    <a:pt x="1663352" y="0"/>
                  </a:lnTo>
                  <a:lnTo>
                    <a:pt x="16633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54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663352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90950" y="561975"/>
            <a:ext cx="47625" cy="47625"/>
            <a:chOff x="0" y="0"/>
            <a:chExt cx="720474" cy="720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52475" y="1095375"/>
            <a:ext cx="7943850" cy="73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8"/>
              </a:lnSpc>
            </a:pPr>
            <a:r>
              <a:rPr lang="en-US" sz="5300" b="true">
                <a:solidFill>
                  <a:srgbClr val="4A544C"/>
                </a:solidFill>
                <a:latin typeface="Garet Bold"/>
                <a:ea typeface="Garet Bold"/>
                <a:cs typeface="Garet Bold"/>
                <a:sym typeface="Garet Bold"/>
              </a:rPr>
              <a:t>Correlation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2475" y="2481198"/>
            <a:ext cx="10086975" cy="677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Correlation analysis was used to identify relationships between numerical variables.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Purpose</a:t>
            </a:r>
          </a:p>
          <a:p>
            <a:pPr algn="just" marL="604515" indent="-302257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Measure dependency between variables</a:t>
            </a:r>
          </a:p>
          <a:p>
            <a:pPr algn="just" marL="604515" indent="-302257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Reduce unnecessary features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Method Used</a:t>
            </a:r>
          </a:p>
          <a:p>
            <a:pPr algn="just" marL="604515" indent="-302257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Correlation Matrix</a:t>
            </a:r>
          </a:p>
          <a:p>
            <a:pPr algn="just" marL="604515" indent="-302257" lvl="1">
              <a:lnSpc>
                <a:spcPts val="4591"/>
              </a:lnSpc>
              <a:buFont typeface="Arial"/>
              <a:buChar char="•"/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Corrplot Visualization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Outcome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Numerical features showed weak to moderate correlation.</a:t>
            </a:r>
          </a:p>
          <a:p>
            <a:pPr algn="just">
              <a:lnSpc>
                <a:spcPts val="2952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AFAFA">
                <a:alpha val="100000"/>
              </a:srgbClr>
            </a:gs>
            <a:gs pos="100000">
              <a:srgbClr val="E4E4E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96200" y="5143500"/>
            <a:ext cx="9963150" cy="9945035"/>
          </a:xfrm>
          <a:custGeom>
            <a:avLst/>
            <a:gdLst/>
            <a:ahLst/>
            <a:cxnLst/>
            <a:rect r="r" b="b" t="t" l="l"/>
            <a:pathLst>
              <a:path h="9945035" w="9963150">
                <a:moveTo>
                  <a:pt x="0" y="0"/>
                </a:moveTo>
                <a:lnTo>
                  <a:pt x="9963150" y="0"/>
                </a:lnTo>
                <a:lnTo>
                  <a:pt x="9963150" y="9945035"/>
                </a:lnTo>
                <a:lnTo>
                  <a:pt x="0" y="994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90950" y="561975"/>
            <a:ext cx="47625" cy="47625"/>
            <a:chOff x="0" y="0"/>
            <a:chExt cx="720474" cy="720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306827" y="2014838"/>
            <a:ext cx="8529705" cy="7943288"/>
          </a:xfrm>
          <a:custGeom>
            <a:avLst/>
            <a:gdLst/>
            <a:ahLst/>
            <a:cxnLst/>
            <a:rect r="r" b="b" t="t" l="l"/>
            <a:pathLst>
              <a:path h="7943288" w="8529705">
                <a:moveTo>
                  <a:pt x="0" y="0"/>
                </a:moveTo>
                <a:lnTo>
                  <a:pt x="8529704" y="0"/>
                </a:lnTo>
                <a:lnTo>
                  <a:pt x="8529704" y="7943287"/>
                </a:lnTo>
                <a:lnTo>
                  <a:pt x="0" y="7943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8688" y="1095375"/>
            <a:ext cx="7943850" cy="73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8"/>
              </a:lnSpc>
            </a:pPr>
            <a:r>
              <a:rPr lang="en-US" sz="5300" b="true">
                <a:solidFill>
                  <a:srgbClr val="4A544C"/>
                </a:solidFill>
                <a:latin typeface="Garet Bold"/>
                <a:ea typeface="Garet Bold"/>
                <a:cs typeface="Garet Bold"/>
                <a:sym typeface="Garet Bold"/>
              </a:rPr>
              <a:t>Correlation Heatmap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19950" y="-62293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22641" y="0"/>
            <a:ext cx="12782550" cy="10287000"/>
            <a:chOff x="0" y="0"/>
            <a:chExt cx="33665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665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3366598">
                  <a:moveTo>
                    <a:pt x="0" y="0"/>
                  </a:moveTo>
                  <a:lnTo>
                    <a:pt x="3366598" y="0"/>
                  </a:lnTo>
                  <a:lnTo>
                    <a:pt x="336659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366598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19900" y="1200150"/>
            <a:ext cx="266700" cy="5314950"/>
            <a:chOff x="0" y="0"/>
            <a:chExt cx="70242" cy="13998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42" cy="1399822"/>
            </a:xfrm>
            <a:custGeom>
              <a:avLst/>
              <a:gdLst/>
              <a:ahLst/>
              <a:cxnLst/>
              <a:rect r="r" b="b" t="t" l="l"/>
              <a:pathLst>
                <a:path h="1399822" w="70242">
                  <a:moveTo>
                    <a:pt x="0" y="0"/>
                  </a:moveTo>
                  <a:lnTo>
                    <a:pt x="70242" y="0"/>
                  </a:lnTo>
                  <a:lnTo>
                    <a:pt x="70242" y="1399822"/>
                  </a:lnTo>
                  <a:lnTo>
                    <a:pt x="0" y="1399822"/>
                  </a:ln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00000"/>
                  </a:srgbClr>
                </a:gs>
                <a:gs pos="100000">
                  <a:srgbClr val="ECECEC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70242" cy="1409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67550" y="3638550"/>
            <a:ext cx="2095500" cy="266700"/>
            <a:chOff x="0" y="0"/>
            <a:chExt cx="551901" cy="702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1901" cy="70242"/>
            </a:xfrm>
            <a:custGeom>
              <a:avLst/>
              <a:gdLst/>
              <a:ahLst/>
              <a:cxnLst/>
              <a:rect r="r" b="b" t="t" l="l"/>
              <a:pathLst>
                <a:path h="70242" w="551901">
                  <a:moveTo>
                    <a:pt x="0" y="0"/>
                  </a:moveTo>
                  <a:lnTo>
                    <a:pt x="551901" y="0"/>
                  </a:lnTo>
                  <a:lnTo>
                    <a:pt x="551901" y="70242"/>
                  </a:lnTo>
                  <a:lnTo>
                    <a:pt x="0" y="70242"/>
                  </a:lnTo>
                  <a:close/>
                </a:path>
              </a:pathLst>
            </a:custGeom>
            <a:gradFill rotWithShape="true">
              <a:gsLst>
                <a:gs pos="0">
                  <a:srgbClr val="F3F3F3">
                    <a:alpha val="100000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51901" cy="79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03529" y="1095375"/>
            <a:ext cx="11884471" cy="1334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sz="4900" b="true">
                <a:solidFill>
                  <a:srgbClr val="4A544C"/>
                </a:solidFill>
                <a:latin typeface="Garet Bold"/>
                <a:ea typeface="Garet Bold"/>
                <a:cs typeface="Garet Bold"/>
                <a:sym typeface="Garet Bold"/>
              </a:rPr>
              <a:t>Customer Segmentation using K-Means Clustering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03529" y="2680655"/>
            <a:ext cx="8914440" cy="695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Customer segmentation helps divide customers into groups based on similar behaviour.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Features Used Age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Purchase Amount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Method K-Means Clustering with 3 clusters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Result Three major customer groups identified: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Low spenders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Medium spenders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High spenders</a:t>
            </a:r>
          </a:p>
          <a:p>
            <a:pPr algn="just">
              <a:lnSpc>
                <a:spcPts val="4591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This helps businesses target customers effectively.</a:t>
            </a:r>
          </a:p>
          <a:p>
            <a:pPr algn="just">
              <a:lnSpc>
                <a:spcPts val="4591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19950" y="-62293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40212" y="1505287"/>
            <a:ext cx="10502760" cy="7443831"/>
          </a:xfrm>
          <a:custGeom>
            <a:avLst/>
            <a:gdLst/>
            <a:ahLst/>
            <a:cxnLst/>
            <a:rect r="r" b="b" t="t" l="l"/>
            <a:pathLst>
              <a:path h="7443831" w="10502760">
                <a:moveTo>
                  <a:pt x="0" y="0"/>
                </a:moveTo>
                <a:lnTo>
                  <a:pt x="10502760" y="0"/>
                </a:lnTo>
                <a:lnTo>
                  <a:pt x="10502760" y="7443831"/>
                </a:lnTo>
                <a:lnTo>
                  <a:pt x="0" y="74438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850914"/>
            <a:ext cx="4972050" cy="165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6"/>
              </a:lnSpc>
              <a:spcBef>
                <a:spcPct val="0"/>
              </a:spcBef>
            </a:pPr>
            <a:r>
              <a:rPr lang="en-US" b="true" sz="4740">
                <a:gradFill>
                  <a:gsLst>
                    <a:gs pos="0">
                      <a:srgbClr val="FAFAFA">
                        <a:alpha val="100000"/>
                      </a:srgbClr>
                    </a:gs>
                    <a:gs pos="100000">
                      <a:srgbClr val="E4E4E4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Customer Clustering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4522" y="88582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15310" y="0"/>
            <a:ext cx="5672690" cy="10287000"/>
            <a:chOff x="0" y="0"/>
            <a:chExt cx="1494042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404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94042">
                  <a:moveTo>
                    <a:pt x="0" y="0"/>
                  </a:moveTo>
                  <a:lnTo>
                    <a:pt x="1494042" y="0"/>
                  </a:lnTo>
                  <a:lnTo>
                    <a:pt x="149404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94042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90950" y="561975"/>
            <a:ext cx="47625" cy="47625"/>
            <a:chOff x="0" y="0"/>
            <a:chExt cx="720474" cy="720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4588" y="676275"/>
            <a:ext cx="9226112" cy="143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8"/>
              </a:lnSpc>
            </a:pPr>
            <a:r>
              <a:rPr lang="en-US" sz="5300" b="true">
                <a:solidFill>
                  <a:srgbClr val="FAFAFA"/>
                </a:solidFill>
                <a:latin typeface="Garet Bold"/>
                <a:ea typeface="Garet Bold"/>
                <a:cs typeface="Garet Bold"/>
                <a:sym typeface="Garet Bold"/>
              </a:rPr>
              <a:t> Decision Tree and OLAP          </a:t>
            </a:r>
          </a:p>
          <a:p>
            <a:pPr algn="l">
              <a:lnSpc>
                <a:spcPts val="5618"/>
              </a:lnSpc>
            </a:pPr>
            <a:r>
              <a:rPr lang="en-US" sz="5300" b="true">
                <a:solidFill>
                  <a:srgbClr val="FAFAFA"/>
                </a:solidFill>
                <a:latin typeface="Garet Bold"/>
                <a:ea typeface="Garet Bold"/>
                <a:cs typeface="Garet Bold"/>
                <a:sym typeface="Garet Bold"/>
              </a:rPr>
              <a:t> 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6250" y="2102992"/>
            <a:ext cx="9585106" cy="818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5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Decision Tree Classification</a:t>
            </a:r>
          </a:p>
          <a:p>
            <a:pPr algn="just">
              <a:lnSpc>
                <a:spcPts val="4755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 decision tree model was built to predict product category using:</a:t>
            </a:r>
          </a:p>
          <a:p>
            <a:pPr algn="just" marL="626104" indent="-313052" lvl="1">
              <a:lnSpc>
                <a:spcPts val="4755"/>
              </a:lnSpc>
              <a:buFont typeface="Arial"/>
              <a:buChar char="•"/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Age</a:t>
            </a:r>
          </a:p>
          <a:p>
            <a:pPr algn="just" marL="626104" indent="-313052" lvl="1">
              <a:lnSpc>
                <a:spcPts val="4755"/>
              </a:lnSpc>
              <a:buFont typeface="Arial"/>
              <a:buChar char="•"/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Gender</a:t>
            </a:r>
          </a:p>
          <a:p>
            <a:pPr algn="just" marL="626104" indent="-313052" lvl="1">
              <a:lnSpc>
                <a:spcPts val="4755"/>
              </a:lnSpc>
              <a:buFont typeface="Arial"/>
              <a:buChar char="•"/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Previous Purchases</a:t>
            </a:r>
          </a:p>
          <a:p>
            <a:pPr algn="just" marL="626104" indent="-313052" lvl="1">
              <a:lnSpc>
                <a:spcPts val="4755"/>
              </a:lnSpc>
              <a:buFont typeface="Arial"/>
              <a:buChar char="•"/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Purchase Amount</a:t>
            </a:r>
          </a:p>
          <a:p>
            <a:pPr algn="just">
              <a:lnSpc>
                <a:spcPts val="4755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OLAP Analysis Performed</a:t>
            </a:r>
          </a:p>
          <a:p>
            <a:pPr algn="just" marL="626104" indent="-313052" lvl="1">
              <a:lnSpc>
                <a:spcPts val="4755"/>
              </a:lnSpc>
              <a:buFont typeface="Arial"/>
              <a:buChar char="•"/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Total sales by category</a:t>
            </a:r>
          </a:p>
          <a:p>
            <a:pPr algn="just" marL="626104" indent="-313052" lvl="1">
              <a:lnSpc>
                <a:spcPts val="4755"/>
              </a:lnSpc>
              <a:buFont typeface="Arial"/>
              <a:buChar char="•"/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Average spending by gender</a:t>
            </a:r>
          </a:p>
          <a:p>
            <a:pPr algn="just" marL="626104" indent="-313052" lvl="1">
              <a:lnSpc>
                <a:spcPts val="4755"/>
              </a:lnSpc>
              <a:buFont typeface="Arial"/>
              <a:buChar char="•"/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Total sales by season</a:t>
            </a:r>
          </a:p>
          <a:p>
            <a:pPr algn="just" marL="626104" indent="-313052" lvl="1">
              <a:lnSpc>
                <a:spcPts val="4755"/>
              </a:lnSpc>
              <a:buFont typeface="Arial"/>
              <a:buChar char="•"/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Top performing product categories</a:t>
            </a:r>
          </a:p>
          <a:p>
            <a:pPr algn="just">
              <a:lnSpc>
                <a:spcPts val="4755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This supports multidimensional business analysis.</a:t>
            </a:r>
          </a:p>
          <a:p>
            <a:pPr algn="just">
              <a:lnSpc>
                <a:spcPts val="2952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4522" y="88582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816593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90950" y="561975"/>
            <a:ext cx="47625" cy="47625"/>
            <a:chOff x="0" y="0"/>
            <a:chExt cx="720474" cy="720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9791194" cy="6464630"/>
          </a:xfrm>
          <a:custGeom>
            <a:avLst/>
            <a:gdLst/>
            <a:ahLst/>
            <a:cxnLst/>
            <a:rect r="r" b="b" t="t" l="l"/>
            <a:pathLst>
              <a:path h="6464630" w="9791194">
                <a:moveTo>
                  <a:pt x="0" y="0"/>
                </a:moveTo>
                <a:lnTo>
                  <a:pt x="9791194" y="0"/>
                </a:lnTo>
                <a:lnTo>
                  <a:pt x="9791194" y="6464630"/>
                </a:lnTo>
                <a:lnTo>
                  <a:pt x="0" y="6464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34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91194" y="3822370"/>
            <a:ext cx="9121170" cy="6464630"/>
          </a:xfrm>
          <a:custGeom>
            <a:avLst/>
            <a:gdLst/>
            <a:ahLst/>
            <a:cxnLst/>
            <a:rect r="r" b="b" t="t" l="l"/>
            <a:pathLst>
              <a:path h="6464630" w="9121170">
                <a:moveTo>
                  <a:pt x="0" y="0"/>
                </a:moveTo>
                <a:lnTo>
                  <a:pt x="9121170" y="0"/>
                </a:lnTo>
                <a:lnTo>
                  <a:pt x="9121170" y="6464630"/>
                </a:lnTo>
                <a:lnTo>
                  <a:pt x="0" y="6464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4522" y="8858250"/>
            <a:ext cx="10630178" cy="10610850"/>
          </a:xfrm>
          <a:custGeom>
            <a:avLst/>
            <a:gdLst/>
            <a:ahLst/>
            <a:cxnLst/>
            <a:rect r="r" b="b" t="t" l="l"/>
            <a:pathLst>
              <a:path h="10610850" w="10630178">
                <a:moveTo>
                  <a:pt x="0" y="0"/>
                </a:moveTo>
                <a:lnTo>
                  <a:pt x="10630178" y="0"/>
                </a:lnTo>
                <a:lnTo>
                  <a:pt x="10630178" y="10610850"/>
                </a:lnTo>
                <a:lnTo>
                  <a:pt x="0" y="10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2543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90950" y="561975"/>
            <a:ext cx="47625" cy="47625"/>
            <a:chOff x="0" y="0"/>
            <a:chExt cx="720474" cy="720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8926629" cy="6326748"/>
          </a:xfrm>
          <a:custGeom>
            <a:avLst/>
            <a:gdLst/>
            <a:ahLst/>
            <a:cxnLst/>
            <a:rect r="r" b="b" t="t" l="l"/>
            <a:pathLst>
              <a:path h="6326748" w="8926629">
                <a:moveTo>
                  <a:pt x="0" y="0"/>
                </a:moveTo>
                <a:lnTo>
                  <a:pt x="8926629" y="0"/>
                </a:lnTo>
                <a:lnTo>
                  <a:pt x="8926629" y="6326748"/>
                </a:lnTo>
                <a:lnTo>
                  <a:pt x="0" y="6326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26629" y="3685882"/>
            <a:ext cx="9313746" cy="6601118"/>
          </a:xfrm>
          <a:custGeom>
            <a:avLst/>
            <a:gdLst/>
            <a:ahLst/>
            <a:cxnLst/>
            <a:rect r="r" b="b" t="t" l="l"/>
            <a:pathLst>
              <a:path h="6601118" w="9313746">
                <a:moveTo>
                  <a:pt x="0" y="0"/>
                </a:moveTo>
                <a:lnTo>
                  <a:pt x="9313746" y="0"/>
                </a:lnTo>
                <a:lnTo>
                  <a:pt x="9313746" y="6601118"/>
                </a:lnTo>
                <a:lnTo>
                  <a:pt x="0" y="6601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324350" cy="10287000"/>
            <a:chOff x="0" y="0"/>
            <a:chExt cx="113892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89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38924">
                  <a:moveTo>
                    <a:pt x="0" y="0"/>
                  </a:moveTo>
                  <a:lnTo>
                    <a:pt x="1138924" y="0"/>
                  </a:lnTo>
                  <a:lnTo>
                    <a:pt x="113892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38923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572250" y="170982"/>
            <a:ext cx="9963150" cy="9945035"/>
          </a:xfrm>
          <a:custGeom>
            <a:avLst/>
            <a:gdLst/>
            <a:ahLst/>
            <a:cxnLst/>
            <a:rect r="r" b="b" t="t" l="l"/>
            <a:pathLst>
              <a:path h="9945035" w="9963150">
                <a:moveTo>
                  <a:pt x="0" y="0"/>
                </a:moveTo>
                <a:lnTo>
                  <a:pt x="9963150" y="0"/>
                </a:lnTo>
                <a:lnTo>
                  <a:pt x="9963150" y="9945036"/>
                </a:lnTo>
                <a:lnTo>
                  <a:pt x="0" y="994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764125" y="561975"/>
            <a:ext cx="47625" cy="47625"/>
            <a:chOff x="0" y="0"/>
            <a:chExt cx="720474" cy="720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474" cy="720474"/>
            </a:xfrm>
            <a:custGeom>
              <a:avLst/>
              <a:gdLst/>
              <a:ahLst/>
              <a:cxnLst/>
              <a:rect r="r" b="b" t="t" l="l"/>
              <a:pathLst>
                <a:path h="720474" w="720474">
                  <a:moveTo>
                    <a:pt x="360237" y="0"/>
                  </a:moveTo>
                  <a:cubicBezTo>
                    <a:pt x="161284" y="0"/>
                    <a:pt x="0" y="161284"/>
                    <a:pt x="0" y="360237"/>
                  </a:cubicBezTo>
                  <a:cubicBezTo>
                    <a:pt x="0" y="559191"/>
                    <a:pt x="161284" y="720474"/>
                    <a:pt x="360237" y="720474"/>
                  </a:cubicBezTo>
                  <a:cubicBezTo>
                    <a:pt x="559191" y="720474"/>
                    <a:pt x="720474" y="559191"/>
                    <a:pt x="720474" y="360237"/>
                  </a:cubicBezTo>
                  <a:cubicBezTo>
                    <a:pt x="720474" y="161284"/>
                    <a:pt x="559191" y="0"/>
                    <a:pt x="360237" y="0"/>
                  </a:cubicBezTo>
                  <a:close/>
                </a:path>
              </a:pathLst>
            </a:custGeom>
            <a:solidFill>
              <a:srgbClr val="E391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7544" y="29444"/>
              <a:ext cx="585385" cy="623485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39356" y="784402"/>
            <a:ext cx="9525000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b="true" sz="5200" spc="124">
                <a:solidFill>
                  <a:srgbClr val="E39159"/>
                </a:solidFill>
                <a:latin typeface="Garet Bold"/>
                <a:ea typeface="Garet Bold"/>
                <a:cs typeface="Garet Bold"/>
                <a:sym typeface="Garet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9356" y="2275205"/>
            <a:ext cx="10934043" cy="668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Business Insights Average customer spending identified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Highest revenue generating category detected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Best performing season identified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Gender spending trend analyzed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This project shows how data warehouse techniques help convert raw customer data into useful business knowledge.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Future Scope Real-time dashboards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Customer recommendation systems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Advanced predictive analytics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DAHES0pFBZM</dc:identifier>
  <dcterms:modified xsi:type="dcterms:W3CDTF">2011-08-01T06:04:30Z</dcterms:modified>
  <cp:revision>1</cp:revision>
  <dc:title>Olive Peach and White Modern Sales Presentation</dc:title>
</cp:coreProperties>
</file>